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4379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1691640"/>
            <a:ext cx="3931920" cy="3931920"/>
          </a:xfrm>
          <a:prstGeom prst="ellipse">
            <a:avLst/>
          </a:prstGeom>
          <a:ln w="19050">
            <a:solidFill>
              <a:srgbClr val="2E4A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2869" y="2242109"/>
            <a:ext cx="2830982" cy="2830982"/>
          </a:xfrm>
          <a:prstGeom prst="ellipse">
            <a:avLst/>
          </a:prstGeom>
          <a:ln w="9525">
            <a:solidFill>
              <a:srgbClr val="2E4A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38360" y="1691640"/>
            <a:ext cx="0" cy="3931920"/>
          </a:xfrm>
          <a:prstGeom prst="line">
            <a:avLst/>
          </a:prstGeom>
          <a:noFill/>
          <a:ln w="9525">
            <a:solidFill>
              <a:srgbClr val="2E4A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3657600"/>
            <a:ext cx="3931920" cy="0"/>
          </a:xfrm>
          <a:prstGeom prst="line">
            <a:avLst/>
          </a:prstGeom>
          <a:noFill/>
          <a:ln w="9525">
            <a:solidFill>
              <a:srgbClr val="2E4A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23806" y="2478024"/>
            <a:ext cx="629107" cy="1179576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9423806" y="3657600"/>
            <a:ext cx="629107" cy="1179576"/>
          </a:xfrm>
          <a:prstGeom prst="triangle">
            <a:avLst/>
          </a:prstGeom>
          <a:solidFill>
            <a:srgbClr val="2E4A70"/>
          </a:solidFill>
          <a:ln/>
        </p:spPr>
      </p:sp>
      <p:sp>
        <p:nvSpPr>
          <p:cNvPr id="9" name="Shape 7"/>
          <p:cNvSpPr/>
          <p:nvPr/>
        </p:nvSpPr>
        <p:spPr>
          <a:xfrm>
            <a:off x="9683496" y="3602736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DESIGN CRITIQUE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874520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미니맵을 버린 어크4,
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도시에서 길을 잃다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BD5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탐험 콘텐츠의 '단위'가 네비게이션 UI를 결정한다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40080" y="5440680"/>
            <a:ext cx="2926080" cy="0"/>
          </a:xfrm>
          <a:prstGeom prst="line">
            <a:avLst/>
          </a:prstGeom>
          <a:noFill/>
          <a:ln w="12700">
            <a:solidFill>
              <a:srgbClr val="2E4A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577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어쌔신 크리드 4: 블랙 플래그 리메이크의 나침반 선택 비평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D8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이민석 · 레벨디자인 스터디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943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무엇이 바뀌었나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126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어쌔신 크리드 4: 블랙 플래그 리메이크가 공개됐다. 반가운 소식이지만 한 가지가 걸린다.
</a:t>
            </a:r>
            <a:endParaRPr lang="en-US" sz="1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게임은 </a:t>
            </a:r>
            <a:r>
              <a:rPr lang="en-US" sz="17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나침반(compass) 방식</a:t>
            </a:r>
            <a:r>
              <a:rPr lang="en-US" sz="1700" dirty="0">
                <a:solidFill>
                  <a:srgbClr val="1A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탐험 UI를 채택했다.</a:t>
            </a:r>
            <a:endParaRPr lang="en-US" sz="1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원작은 </a:t>
            </a:r>
            <a:endParaRPr lang="en-US" sz="1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미니맵 기반</a:t>
            </a:r>
            <a:r>
              <a:rPr lang="en-US" sz="1700" dirty="0">
                <a:solidFill>
                  <a:srgbClr val="1A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이었다는 걸 생각하면 더더욱 아쉽다.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2880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6"/>
            </a:solidFill>
            <a:prstDash val="solid"/>
          </a:ln>
          <a:effectLst>
            <a:outerShdw blurRad="114300" dist="38100" dir="5400000" algn="bl" rotWithShape="0">
              <a:srgbClr val="0B1E3B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60520"/>
            <a:ext cx="91440" cy="1371600"/>
          </a:xfrm>
          <a:prstGeom prst="rect">
            <a:avLst/>
          </a:prstGeom>
          <a:solidFill>
            <a:srgbClr val="6E7A8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315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미니맵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703320" y="4160520"/>
            <a:ext cx="822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4617720" y="4160520"/>
            <a:ext cx="2880360" cy="1371600"/>
          </a:xfrm>
          <a:prstGeom prst="rect">
            <a:avLst/>
          </a:prstGeom>
          <a:solidFill>
            <a:srgbClr val="0B1E3B"/>
          </a:solidFill>
          <a:ln/>
          <a:effectLst>
            <a:outerShdw blurRad="114300" dist="38100" dir="5400000" algn="bl" rotWithShape="0">
              <a:srgbClr val="0B1E3B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4160520"/>
            <a:ext cx="91440" cy="13716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4315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리메이크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4617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나침반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955280" y="1691640"/>
            <a:ext cx="3593592" cy="3840480"/>
          </a:xfrm>
          <a:prstGeom prst="rect">
            <a:avLst/>
          </a:prstGeom>
          <a:solidFill>
            <a:srgbClr val="F5F0E6"/>
          </a:solidFill>
          <a:ln w="12700">
            <a:solidFill>
              <a:srgbClr val="6E7A8A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8046720" y="1691640"/>
            <a:ext cx="341071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칸
</a:t>
            </a:r>
            <a:r>
              <a:rPr lang="en-US" sz="10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리메이크 트레일러 — 상단 나침반 UI가 보이는 컷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943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나침반은 원래 어디에 쓰이는가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나침반 UI는 '거점 단위' 탐험을 하는 두 종류의 게임에서 잘 작동한다.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51663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6"/>
            </a:solidFill>
            <a:prstDash val="solid"/>
          </a:ln>
          <a:effectLst>
            <a:outerShdw blurRad="114300" dist="38100" dir="5400000" algn="bl" rotWithShape="0">
              <a:srgbClr val="0B1E3B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240280"/>
            <a:ext cx="5166360" cy="109728"/>
          </a:xfrm>
          <a:prstGeom prst="rect">
            <a:avLst/>
          </a:prstGeom>
          <a:solidFill>
            <a:srgbClr val="2A7F9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A7F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920240" y="2651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2B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배틀로얄류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938528" y="3127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A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위치 오더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3749040"/>
            <a:ext cx="4434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A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방향과 각도(0~360)를 즉시 읽어 팀원에게 "북서쪽 200m"처럼 위치를 공유한다. 나침반이 실시간 커뮤니케이션 도구로 쓰인다.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172200" y="2240280"/>
            <a:ext cx="51663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6"/>
            </a:solidFill>
            <a:prstDash val="solid"/>
          </a:ln>
          <a:effectLst>
            <a:outerShdw blurRad="114300" dist="38100" dir="5400000" algn="bl" rotWithShape="0">
              <a:srgbClr val="0B1E3B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2240280"/>
            <a:ext cx="5166360" cy="109728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4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452360" y="2651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2B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싱글 오픈월드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470648" y="3127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거점 단위 탐색 · 폴아웃류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56248" y="3749040"/>
            <a:ext cx="4434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A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탐험의 최소 단위가 멀리서도 보이는 '거점' 하나. 나침반은 "저 거점으로 가라"만 짚고, 세밀한 파밍은 건물 내부라는 닫힌 공간이 담당한다.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0080" y="5897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공통점  </a:t>
            </a:r>
            <a:r>
              <a:rPr lang="en-US" sz="1600" dirty="0">
                <a:solidFill>
                  <a:srgbClr val="1A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탐험의 단위 = '거점'. 방향만 짚어줘도 충분하다.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943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어쌔신 크리드는 왜 다른가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A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어크의 재미는 정반대 지점에 있다.
</a:t>
            </a:r>
            <a:endParaRPr lang="en-US" sz="1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거대한 도시 그 자체를 탐험하고 역사를 몸으로 경험하는 것</a:t>
            </a:r>
            <a:r>
              <a:rPr lang="en-US" sz="1700" dirty="0">
                <a:solidFill>
                  <a:srgbClr val="1A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핵심이다.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163824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054096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A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수집품·오브젝트의 개수가 압도적으로 많다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3913632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803904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A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지붕 위·골목 안·건물 사이 구석구석에 숨겨져 있다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4663440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55371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A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탐험 단위가 '거점'이 아니라 도시 표면 전체에 흩어진 '점(dot)'이다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903720" y="1645920"/>
            <a:ext cx="4645152" cy="4434840"/>
          </a:xfrm>
          <a:prstGeom prst="rect">
            <a:avLst/>
          </a:prstGeom>
          <a:solidFill>
            <a:srgbClr val="0B1E3B"/>
          </a:solidFill>
          <a:ln/>
          <a:effectLst>
            <a:outerShdw blurRad="114300" dist="38100" dir="5400000" algn="bl" rotWithShape="0">
              <a:srgbClr val="0B1E3B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7804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탐험 단위의 어긋남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178040" y="2514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나침반이 겨눈 것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32520" y="288036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3429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거점 1개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78040" y="3886200"/>
            <a:ext cx="4114800" cy="0"/>
          </a:xfrm>
          <a:prstGeom prst="line">
            <a:avLst/>
          </a:prstGeom>
          <a:noFill/>
          <a:ln w="12700">
            <a:solidFill>
              <a:srgbClr val="2E4A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4023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어크의 실제 콘텐츠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06640" y="4572000"/>
            <a:ext cx="146304" cy="146304"/>
          </a:xfrm>
          <a:prstGeom prst="ellipse">
            <a:avLst/>
          </a:prstGeom>
          <a:solidFill>
            <a:srgbClr val="6AA9C9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0" y="4434840"/>
            <a:ext cx="146304" cy="146304"/>
          </a:xfrm>
          <a:prstGeom prst="ellipse">
            <a:avLst/>
          </a:prstGeom>
          <a:solidFill>
            <a:srgbClr val="6AA9C9"/>
          </a:solidFill>
          <a:ln/>
        </p:spPr>
      </p:sp>
      <p:sp>
        <p:nvSpPr>
          <p:cNvPr id="21" name="Shape 19"/>
          <p:cNvSpPr/>
          <p:nvPr/>
        </p:nvSpPr>
        <p:spPr>
          <a:xfrm>
            <a:off x="8549640" y="4709160"/>
            <a:ext cx="146304" cy="146304"/>
          </a:xfrm>
          <a:prstGeom prst="ellipse">
            <a:avLst/>
          </a:prstGeom>
          <a:solidFill>
            <a:srgbClr val="6AA9C9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0" y="4480560"/>
            <a:ext cx="146304" cy="146304"/>
          </a:xfrm>
          <a:prstGeom prst="ellipse">
            <a:avLst/>
          </a:prstGeom>
          <a:solidFill>
            <a:srgbClr val="6AA9C9"/>
          </a:solidFill>
          <a:ln/>
        </p:spPr>
      </p:sp>
      <p:sp>
        <p:nvSpPr>
          <p:cNvPr id="23" name="Shape 21"/>
          <p:cNvSpPr/>
          <p:nvPr/>
        </p:nvSpPr>
        <p:spPr>
          <a:xfrm>
            <a:off x="9692640" y="4754880"/>
            <a:ext cx="146304" cy="146304"/>
          </a:xfrm>
          <a:prstGeom prst="ellipse">
            <a:avLst/>
          </a:prstGeom>
          <a:solidFill>
            <a:srgbClr val="6AA9C9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41280" y="4526280"/>
            <a:ext cx="146304" cy="146304"/>
          </a:xfrm>
          <a:prstGeom prst="ellipse">
            <a:avLst/>
          </a:prstGeom>
          <a:solidFill>
            <a:srgbClr val="6AA9C9"/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0" y="5029200"/>
            <a:ext cx="146304" cy="146304"/>
          </a:xfrm>
          <a:prstGeom prst="ellipse">
            <a:avLst/>
          </a:prstGeom>
          <a:solidFill>
            <a:srgbClr val="6AA9C9"/>
          </a:solidFill>
          <a:ln/>
        </p:spPr>
      </p:sp>
      <p:sp>
        <p:nvSpPr>
          <p:cNvPr id="26" name="Shape 24"/>
          <p:cNvSpPr/>
          <p:nvPr/>
        </p:nvSpPr>
        <p:spPr>
          <a:xfrm>
            <a:off x="8321040" y="5074920"/>
            <a:ext cx="146304" cy="146304"/>
          </a:xfrm>
          <a:prstGeom prst="ellipse">
            <a:avLst/>
          </a:prstGeom>
          <a:solidFill>
            <a:srgbClr val="6AA9C9"/>
          </a:solidFill>
          <a:ln/>
        </p:spPr>
      </p:sp>
      <p:sp>
        <p:nvSpPr>
          <p:cNvPr id="27" name="Shape 25"/>
          <p:cNvSpPr/>
          <p:nvPr/>
        </p:nvSpPr>
        <p:spPr>
          <a:xfrm>
            <a:off x="8961120" y="4983480"/>
            <a:ext cx="146304" cy="146304"/>
          </a:xfrm>
          <a:prstGeom prst="ellipse">
            <a:avLst/>
          </a:prstGeom>
          <a:solidFill>
            <a:srgbClr val="6AA9C9"/>
          </a:solidFill>
          <a:ln/>
        </p:spPr>
      </p:sp>
      <p:sp>
        <p:nvSpPr>
          <p:cNvPr id="28" name="Shape 26"/>
          <p:cNvSpPr/>
          <p:nvPr/>
        </p:nvSpPr>
        <p:spPr>
          <a:xfrm>
            <a:off x="9601200" y="5120640"/>
            <a:ext cx="146304" cy="146304"/>
          </a:xfrm>
          <a:prstGeom prst="ellipse">
            <a:avLst/>
          </a:prstGeom>
          <a:solidFill>
            <a:srgbClr val="6AA9C9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49840" y="5029200"/>
            <a:ext cx="146304" cy="146304"/>
          </a:xfrm>
          <a:prstGeom prst="ellipse">
            <a:avLst/>
          </a:prstGeom>
          <a:solidFill>
            <a:srgbClr val="6AA9C9"/>
          </a:solidFill>
          <a:ln/>
        </p:spPr>
      </p:sp>
      <p:sp>
        <p:nvSpPr>
          <p:cNvPr id="30" name="Shape 28"/>
          <p:cNvSpPr/>
          <p:nvPr/>
        </p:nvSpPr>
        <p:spPr>
          <a:xfrm>
            <a:off x="8001000" y="5486400"/>
            <a:ext cx="146304" cy="146304"/>
          </a:xfrm>
          <a:prstGeom prst="ellipse">
            <a:avLst/>
          </a:prstGeom>
          <a:solidFill>
            <a:srgbClr val="6AA9C9"/>
          </a:solidFill>
          <a:ln/>
        </p:spPr>
      </p:sp>
      <p:sp>
        <p:nvSpPr>
          <p:cNvPr id="31" name="Shape 29"/>
          <p:cNvSpPr/>
          <p:nvPr/>
        </p:nvSpPr>
        <p:spPr>
          <a:xfrm>
            <a:off x="8686800" y="5440680"/>
            <a:ext cx="146304" cy="146304"/>
          </a:xfrm>
          <a:prstGeom prst="ellipse">
            <a:avLst/>
          </a:prstGeom>
          <a:solidFill>
            <a:srgbClr val="6AA9C9"/>
          </a:solidFill>
          <a:ln/>
        </p:spPr>
      </p:sp>
      <p:sp>
        <p:nvSpPr>
          <p:cNvPr id="32" name="Shape 30"/>
          <p:cNvSpPr/>
          <p:nvPr/>
        </p:nvSpPr>
        <p:spPr>
          <a:xfrm>
            <a:off x="9326880" y="5532120"/>
            <a:ext cx="146304" cy="146304"/>
          </a:xfrm>
          <a:prstGeom prst="ellipse">
            <a:avLst/>
          </a:prstGeom>
          <a:solidFill>
            <a:srgbClr val="6AA9C9"/>
          </a:solidFill>
          <a:ln/>
        </p:spPr>
      </p:sp>
      <p:sp>
        <p:nvSpPr>
          <p:cNvPr id="33" name="Shape 31"/>
          <p:cNvSpPr/>
          <p:nvPr/>
        </p:nvSpPr>
        <p:spPr>
          <a:xfrm>
            <a:off x="9966960" y="5486400"/>
            <a:ext cx="146304" cy="146304"/>
          </a:xfrm>
          <a:prstGeom prst="ellipse">
            <a:avLst/>
          </a:prstGeom>
          <a:solidFill>
            <a:srgbClr val="6AA9C9"/>
          </a:solidFill>
          <a:ln/>
        </p:spPr>
      </p:sp>
      <p:sp>
        <p:nvSpPr>
          <p:cNvPr id="34" name="Text 32"/>
          <p:cNvSpPr/>
          <p:nvPr/>
        </p:nvSpPr>
        <p:spPr>
          <a:xfrm>
            <a:off x="7178040" y="5715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도시 표면에 촘촘히 흩어진 '점'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5943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방향만 알려주는 도구로 이 촘촘한 표면을 안내하려니 정보가 뭉개진다.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943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게다가, 어크는 '잠입' 게임이다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잠입 플레이는 나침반이 못 주는 두 가지 정보를 실시간으로 요구한다.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1663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6"/>
            </a:solidFill>
            <a:prstDash val="solid"/>
          </a:ln>
          <a:effectLst>
            <a:outerShdw blurRad="114300" dist="38100" dir="5400000" algn="bl" rotWithShape="0">
              <a:srgbClr val="0B1E3B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118872" cy="2057400"/>
          </a:xfrm>
          <a:prstGeom prst="rect">
            <a:avLst/>
          </a:prstGeom>
          <a:solidFill>
            <a:srgbClr val="2A7F9E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39572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2B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미시 지형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69848" y="2880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2A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은신 루트 설계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51560" y="329184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A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골목·담벼락·군중·건초더미 같은 지형을 읽어야 잠입 동선을 짠다. 방향만으론 못 짜고, 주변을 축소해 보여주는 미니맵이 필요하다.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172200" y="2194560"/>
            <a:ext cx="51663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6"/>
            </a:solidFill>
            <a:prstDash val="solid"/>
          </a:ln>
          <a:effectLst>
            <a:outerShdw blurRad="114300" dist="38100" dir="5400000" algn="bl" rotWithShape="0">
              <a:srgbClr val="0B1E3B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2194560"/>
            <a:ext cx="118872" cy="2057400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39572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2B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적 배치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601968" y="2880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 · 시야 파악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329184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A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주변 경비병의 위치와 시야를 한눈에 훑어야 발각 없이 움직인다. 이 밀도 높은 정보 역시 미니맵이 이동 중에 실시간으로 그려준다.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" y="43434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550" b="1" dirty="0">
                <a:solidFill>
                  <a:srgbClr val="1A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잠입 게임이던 어크에 미니맵이 맞았던 이유다.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10908792" cy="1371600"/>
          </a:xfrm>
          <a:prstGeom prst="rect">
            <a:avLst/>
          </a:prstGeom>
          <a:solidFill>
            <a:srgbClr val="0B1E3B"/>
          </a:solidFill>
          <a:ln/>
          <a:effectLst>
            <a:outerShdw blurRad="114300" dist="38100" dir="5400000" algn="bl" rotWithShape="0">
              <a:srgbClr val="0B1E3B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937760"/>
            <a:ext cx="91440" cy="13716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그런데 왜 최신 시리즈는 나침반으로?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54406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오리진 이후 시리즈는 순수 잠입에서 벗어나 </a:t>
            </a: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넓은 오픈월드 탐험과 정면 액션(RPG화)</a:t>
            </a:r>
            <a:r>
              <a:rPr lang="en-US" sz="14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무게를 실었다. 그 방향에는 세밀한 미니맵보다 방향 중심의 나침반이 어울린다고 본 것 — 근거 있는 전환이다.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943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반례: 오리진의 '매 → 맵 → 이동' 루프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어긋남이 플레이 루프에서 그대로 드러난다. 관심지역마다 이 왕복을 반복한다.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24871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6"/>
            </a:solidFill>
            <a:prstDash val="solid"/>
          </a:ln>
          <a:effectLst>
            <a:outerShdw blurRad="114300" dist="38100" dir="5400000" algn="bl" rotWithShape="0">
              <a:srgbClr val="0B1E3B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99616" y="2084832"/>
            <a:ext cx="768096" cy="768096"/>
          </a:xfrm>
          <a:prstGeom prst="ellipse">
            <a:avLst/>
          </a:prstGeom>
          <a:solidFill>
            <a:srgbClr val="1C4E80"/>
          </a:solidFill>
          <a:ln w="38100">
            <a:solidFill>
              <a:srgbClr val="F5F0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99616" y="20848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나침반 도착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212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나침반을 보고 관심지역에 일단 도착한다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08960" y="2468880"/>
            <a:ext cx="3291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19856" y="2468880"/>
            <a:ext cx="24871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6"/>
            </a:solidFill>
            <a:prstDash val="solid"/>
          </a:ln>
          <a:effectLst>
            <a:outerShdw blurRad="114300" dist="38100" dir="5400000" algn="bl" rotWithShape="0">
              <a:srgbClr val="0B1E3B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9392" y="2084832"/>
            <a:ext cx="768096" cy="768096"/>
          </a:xfrm>
          <a:prstGeom prst="ellipse">
            <a:avLst/>
          </a:prstGeom>
          <a:solidFill>
            <a:srgbClr val="1C4E80"/>
          </a:solidFill>
          <a:ln w="38100">
            <a:solidFill>
              <a:srgbClr val="F5F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9392" y="20848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57016" y="31546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매(세누) 스캔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02736" y="3657600"/>
            <a:ext cx="212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나침반으론 부족해 매를 띄워 위치를 스캔한다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88736" y="2468880"/>
            <a:ext cx="3291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99632" y="2468880"/>
            <a:ext cx="24871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6"/>
            </a:solidFill>
            <a:prstDash val="solid"/>
          </a:ln>
          <a:effectLst>
            <a:outerShdw blurRad="114300" dist="38100" dir="5400000" algn="bl" rotWithShape="0">
              <a:srgbClr val="0B1E3B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59168" y="2084832"/>
            <a:ext cx="768096" cy="768096"/>
          </a:xfrm>
          <a:prstGeom prst="ellipse">
            <a:avLst/>
          </a:prstGeom>
          <a:solidFill>
            <a:srgbClr val="1C4E80"/>
          </a:solidFill>
          <a:ln w="38100">
            <a:solidFill>
              <a:srgbClr val="F5F0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59168" y="20848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36792" y="31546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맵 펼치기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82512" y="3657600"/>
            <a:ext cx="212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다시 맵을 펼쳐 다음 목적지를 파악한다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668512" y="2468880"/>
            <a:ext cx="3291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979408" y="2468880"/>
            <a:ext cx="24871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6"/>
            </a:solidFill>
            <a:prstDash val="solid"/>
          </a:ln>
          <a:effectLst>
            <a:outerShdw blurRad="114300" dist="38100" dir="5400000" algn="bl" rotWithShape="0">
              <a:srgbClr val="0B1E3B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38944" y="2084832"/>
            <a:ext cx="768096" cy="768096"/>
          </a:xfrm>
          <a:prstGeom prst="ellipse">
            <a:avLst/>
          </a:prstGeom>
          <a:solidFill>
            <a:srgbClr val="D9A441"/>
          </a:solidFill>
          <a:ln w="38100">
            <a:solidFill>
              <a:srgbClr val="F5F0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38944" y="20848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116568" y="31546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이동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62288" y="3657600"/>
            <a:ext cx="212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맵을 닫고 이동한다 — 그리고 다시 반복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0080" y="5257800"/>
            <a:ext cx="10908792" cy="960120"/>
          </a:xfrm>
          <a:prstGeom prst="rect">
            <a:avLst/>
          </a:prstGeom>
          <a:solidFill>
            <a:srgbClr val="0B1E3B"/>
          </a:solidFill>
          <a:ln/>
          <a:effectLst>
            <a:outerShdw blurRad="114300" dist="38100" dir="5400000" algn="bl" rotWithShape="0">
              <a:srgbClr val="0B1E3B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5257800"/>
            <a:ext cx="91440" cy="9601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52578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나침반은 방향만 짚을 뿐 '점 단위' 위치를 못 짚는다.  </a:t>
            </a:r>
            <a:r>
              <a:rPr lang="en-US" sz="15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빈틈을 매 띄우기·맵 펼치기가 메꾸며 탐험 흐름이 계속 끊긴다.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943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그래서 어크4 리메이크가 아쉽다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블랙 플래그도 뭍에 내리면 어크 특유의 육지 탐험 루프가 작동한다 — 보물·수집품이 지형 구석구석 '점 단위'로 흩어져 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5166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6"/>
            </a:solidFill>
            <a:prstDash val="solid"/>
          </a:ln>
          <a:effectLst>
            <a:outerShdw blurRad="114300" dist="38100" dir="5400000" algn="bl" rotWithShape="0">
              <a:srgbClr val="0B1E3B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468880"/>
            <a:ext cx="5166360" cy="109728"/>
          </a:xfrm>
          <a:prstGeom prst="rect">
            <a:avLst/>
          </a:prstGeom>
          <a:solidFill>
            <a:srgbClr val="2A7F9E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788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2A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원작이 택한 UI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310896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B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미니맵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51560" y="3840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어크와 궁합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4343400"/>
            <a:ext cx="4434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A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 주변의 밀도 높은 정보를 이동을 멈추지 않고 실시간으로 보여준다. 어크의 점 단위 탐험과 궁합이 좋다.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172200" y="2468880"/>
            <a:ext cx="5166360" cy="3566160"/>
          </a:xfrm>
          <a:prstGeom prst="rect">
            <a:avLst/>
          </a:prstGeom>
          <a:solidFill>
            <a:srgbClr val="0B1E3B"/>
          </a:solidFill>
          <a:ln/>
          <a:effectLst>
            <a:outerShdw blurRad="114300" dist="38100" dir="5400000" algn="bl" rotWithShape="0">
              <a:srgbClr val="0B1E3B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2468880"/>
            <a:ext cx="5166360" cy="109728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788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리메이크가 택한 UI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310896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나침반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583680" y="3840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어크와 불화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4343400"/>
            <a:ext cx="4434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BD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방향밖에 못 짚는다. 도시의 촘촘한 점을 안내하지 못해 오리진식 왕복 불편이 재현될 가능성이 크다.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궁합 좋던 미니맵을, 굳이 방향밖에 못 짚는 나침반으로 바꾼 셈이다.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943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대안: 상륙 시 미니맵, 항해 시 나침반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어크4엔 나침반이 정말 잘 맞는 구간이 있다 — </a:t>
            </a:r>
            <a:r>
              <a:rPr lang="en-US" sz="16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항해</a:t>
            </a:r>
            <a:r>
              <a:rPr lang="en-US" sz="1600" dirty="0">
                <a:solidFill>
                  <a:srgbClr val="1A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여기선 탐험 단위가 다시 '거점(섬·함선·요새)'으로 돌아오고, 망망대해에선 방향·거리만 알면 된다. 나침반이 오히려 대항해의 몰입 연출이 된다.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5166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6"/>
            </a:solidFill>
            <a:prstDash val="solid"/>
          </a:ln>
          <a:effectLst>
            <a:outerShdw blurRad="114300" dist="38100" dir="5400000" algn="bl" rotWithShape="0">
              <a:srgbClr val="0B1E3B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606040"/>
            <a:ext cx="118872" cy="1965960"/>
          </a:xfrm>
          <a:prstGeom prst="rect">
            <a:avLst/>
          </a:prstGeom>
          <a:solidFill>
            <a:srgbClr val="2A7F9E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A7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육지 상륙 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32461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미니맵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051560" y="3977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 단위의 촘촘한 도시 탐험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2200" y="2606040"/>
            <a:ext cx="5166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6"/>
            </a:solidFill>
            <a:prstDash val="solid"/>
          </a:ln>
          <a:effectLst>
            <a:outerShdw blurRad="114300" dist="38100" dir="5400000" algn="bl" rotWithShape="0">
              <a:srgbClr val="0B1E3B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2606040"/>
            <a:ext cx="118872" cy="1965960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선박 항해 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32461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나침반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583680" y="3977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거점 단위의 대양 탐사 + 몰입 연출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10908792" cy="1371600"/>
          </a:xfrm>
          <a:prstGeom prst="rect">
            <a:avLst/>
          </a:prstGeom>
          <a:solidFill>
            <a:srgbClr val="0B1E3B"/>
          </a:solidFill>
          <a:ln/>
          <a:effectLst>
            <a:outerShdw blurRad="114300" dist="38100" dir="5400000" algn="bl" rotWithShape="0">
              <a:srgbClr val="0B1E3B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469880" y="5074920"/>
            <a:ext cx="1005840" cy="1005840"/>
          </a:xfrm>
          <a:prstGeom prst="ellipse">
            <a:avLst/>
          </a:prstGeom>
          <a:ln w="19050">
            <a:solidFill>
              <a:srgbClr val="2E4A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10698" y="5215738"/>
            <a:ext cx="724205" cy="724205"/>
          </a:xfrm>
          <a:prstGeom prst="ellipse">
            <a:avLst/>
          </a:prstGeom>
          <a:ln w="9525">
            <a:solidFill>
              <a:srgbClr val="2E4A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0" y="5074920"/>
            <a:ext cx="0" cy="1005840"/>
          </a:xfrm>
          <a:prstGeom prst="line">
            <a:avLst/>
          </a:prstGeom>
          <a:noFill/>
          <a:ln w="9525">
            <a:solidFill>
              <a:srgbClr val="2E4A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69880" y="5577840"/>
            <a:ext cx="1005840" cy="0"/>
          </a:xfrm>
          <a:prstGeom prst="line">
            <a:avLst/>
          </a:prstGeom>
          <a:noFill/>
          <a:ln w="9525">
            <a:solidFill>
              <a:srgbClr val="2E4A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892333" y="5276088"/>
            <a:ext cx="160934" cy="301752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22" name="Shape 20"/>
          <p:cNvSpPr/>
          <p:nvPr/>
        </p:nvSpPr>
        <p:spPr>
          <a:xfrm flipV="1">
            <a:off x="10892333" y="5577840"/>
            <a:ext cx="160934" cy="301752"/>
          </a:xfrm>
          <a:prstGeom prst="triangle">
            <a:avLst/>
          </a:prstGeom>
          <a:solidFill>
            <a:srgbClr val="2E4A70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17936" y="5522976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8920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게임 안에 성격이 다른 두 탐험이 있다.
</a:t>
            </a:r>
            <a:endParaRPr lang="en-US" sz="15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BD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 단위 도시 탐험 vs 거점 단위 대양 탐사 — UI도 하나로 통일할 게 아니라 상태에 따라 갈라졌어야 한다.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" name="Shape 1"/>
          <p:cNvSpPr/>
          <p:nvPr/>
        </p:nvSpPr>
        <p:spPr>
          <a:xfrm>
            <a:off x="8458200" y="3108960"/>
            <a:ext cx="3474720" cy="3474720"/>
          </a:xfrm>
          <a:prstGeom prst="ellipse">
            <a:avLst/>
          </a:prstGeom>
          <a:ln w="19050">
            <a:solidFill>
              <a:srgbClr val="2E4A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44661" y="3595421"/>
            <a:ext cx="2501798" cy="2501798"/>
          </a:xfrm>
          <a:prstGeom prst="ellipse">
            <a:avLst/>
          </a:prstGeom>
          <a:ln w="9525">
            <a:solidFill>
              <a:srgbClr val="2E4A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95560" y="3108960"/>
            <a:ext cx="0" cy="3474720"/>
          </a:xfrm>
          <a:prstGeom prst="line">
            <a:avLst/>
          </a:prstGeom>
          <a:noFill/>
          <a:ln w="9525">
            <a:solidFill>
              <a:srgbClr val="2E4A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58200" y="4846320"/>
            <a:ext cx="3474720" cy="0"/>
          </a:xfrm>
          <a:prstGeom prst="line">
            <a:avLst/>
          </a:prstGeom>
          <a:noFill/>
          <a:ln w="9525">
            <a:solidFill>
              <a:srgbClr val="2E4A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17582" y="3803904"/>
            <a:ext cx="555955" cy="1042416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9917582" y="4846320"/>
            <a:ext cx="555955" cy="1042416"/>
          </a:xfrm>
          <a:prstGeom prst="triangle">
            <a:avLst/>
          </a:prstGeom>
          <a:solidFill>
            <a:srgbClr val="2E4A70"/>
          </a:solidFill>
          <a:ln/>
        </p:spPr>
      </p:sp>
      <p:sp>
        <p:nvSpPr>
          <p:cNvPr id="9" name="Shape 7"/>
          <p:cNvSpPr/>
          <p:nvPr/>
        </p:nvSpPr>
        <p:spPr>
          <a:xfrm>
            <a:off x="10140696" y="4791456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685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408176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12984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나침반은 '거점 단위' 탐험(배틀로얄 위치 오더, 폴아웃류 거점 탐색)에 맞는 도구다.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075688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1965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어크는 도시 표면에 흩어진 '점 단위' + 지형·적 배치를 읽는 잠입 게임이라, 미니맵과 궁합이 좋았다.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2743200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26334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시리즈는 탐험·액션 RPG로 무게가 옮겨가 나침반으로 바뀌었지만, 도시 탐험엔 여전히 어긋난다.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410712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30098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원래 미니맵이던 어크4에 나침반 통일은 아쉬운 선택 — 상륙-미니맵 / 항해-나침반 하이브리드가 답.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315968"/>
            <a:ext cx="7315200" cy="0"/>
          </a:xfrm>
          <a:prstGeom prst="line">
            <a:avLst/>
          </a:prstGeom>
          <a:noFill/>
          <a:ln w="12700">
            <a:solidFill>
              <a:srgbClr val="2E4A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80060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UI를 하나로 통일한 게 문제가 아니라,
</a:t>
            </a:r>
            <a:endParaRPr lang="en-US" sz="2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성격이 다른 두 탐험을 하나로 통일한 게 문제다.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786</Words>
  <Application>Microsoft Office PowerPoint</Application>
  <PresentationFormat>와이드스크린</PresentationFormat>
  <Paragraphs>114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미니맵을 버린 어크4, 도시에서 길을 잃다</dc:title>
  <dc:subject>PptxGenJS Presentation</dc:subject>
  <dc:creator>이민석</dc:creator>
  <cp:lastModifiedBy>Minseok Lee</cp:lastModifiedBy>
  <cp:revision>2</cp:revision>
  <dcterms:created xsi:type="dcterms:W3CDTF">2026-07-10T11:54:20Z</dcterms:created>
  <dcterms:modified xsi:type="dcterms:W3CDTF">2026-07-10T12:42:55Z</dcterms:modified>
</cp:coreProperties>
</file>